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F7C7EF-0F79-A6C7-ABB6-0099C1F68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0C9A54A-019E-82B4-C6D5-3A89AC579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0BEAC8-5AE1-9718-2EB5-E8A40680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1AB54C-2D33-D06E-4080-B46DF395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927C54-1A81-61D2-FA72-FA67082C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983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F937C0-E37C-9F17-7188-4A3B72A6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E4A681-6B05-9875-50F6-4BE4D52BE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D2775C-A47A-E03A-DECD-6D6636C5A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E1677-B8A7-7330-445E-CA9AD09C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E39E0D-A040-C072-4590-2296D5FF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46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43407E-D967-DFA7-7C8F-A6F8F94F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E658F7-1AC5-D007-24B5-C0219EE3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6731FD-3763-4219-78DC-622619F28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465BCE-1992-70CD-0656-6D981B844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8A2F11-9E44-F80C-0734-52BCDB10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130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A66F3A-26C4-AB29-6D3F-542C3DF78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97F9CF-136D-0C6D-2E5A-C9F3626224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67E101-8531-7206-8E5C-00CC18E47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6AB836-00A9-3651-206F-01C0BEFE4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9D9AE4-F88A-48C7-776B-DCBA4B2C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D33375-ED99-14E6-3A4C-452FA8ABF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725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FC16F-F674-13A7-9B1B-01B1D6ED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05BD05-321F-984C-3BB9-C2C410001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D322B3-FFFC-B4FB-238F-CBEEC9D21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FC01E9-AF3C-37BC-8CA7-9AEDE3DF9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3F434B-CE47-6E41-1796-705A49D37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947572F-2348-C95F-A03C-191DFD23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7A1D03A-9F41-FB20-1CDE-A23A4045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0867844-1BA7-A9CE-5657-BC3080F61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041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454175-540E-7792-B5C1-1FA96F51C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762A43-4D71-1D8C-9948-3D63E5BC9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7955A1D-BAE3-F49D-98DC-3E9D53CC5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39B896-0A9E-5C53-EDA7-AE1CA1C9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9837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EE505A7-EC13-4D4F-460E-AE2C4A36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76333D6-E381-452E-A652-16DBE0E28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7AE4D2-FBD2-EF03-1806-1640088E5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640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E4C27-6349-8649-B7B2-8772B47E8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EC5D46-2AEA-487F-5922-61F4C4A6F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D60093A-A80D-ED8B-8C53-BF6BA15A0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F185DE7-3BE9-3553-8B1C-EC7BC9252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4EE39B-C81C-32C0-D2FA-580C7D48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A5523F-8B6B-6309-754D-F2304F2F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0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CBA71A-33F8-AF16-AC6E-6ABB8470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D0501F3-8011-F3F3-C299-626A119AA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DF5485-1D0F-7056-DE76-11BCE5D16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CA43A49-C2D0-9026-C5EA-1B52A63D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7648E9-BDD7-5981-EB06-1EEC0BB1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3893F4-E755-2F9B-51F0-64504F1B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50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5CCB9-A198-F553-EC46-6A286C52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C8FA43-A8CA-F09C-A4EF-B92953FBE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8C0123-7E31-DC4C-A5C6-2910DC91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126EAD-F78B-9273-6627-73A8E972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72AA8A-2488-5699-C7F4-1A8AC419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50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2FBF86-CC4F-8550-C558-7C0E01817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2AAEA7-AFE1-DFA4-C3CD-1EDD76928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D2E34A-21F3-25FE-2F02-1C71BA319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EA01E5-A969-5C9D-A831-80C8996E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F3E0BE-B0D2-55DD-B9A1-3F7839BC4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8528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54C54B-9062-CFB3-835A-AEDCD34C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3D83E0-B983-763E-B33D-6FE6FBE2C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4D5440-4859-7081-FD35-71C1BB390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CD2CF-FC85-4C82-A3AE-90101382F0F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25B8A2-A802-7769-1EA7-3F96FD707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8235A0-7353-ACD2-3062-FCA58FBBC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99AE7C-0F08-4F72-A5CE-97508D846E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926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267DC28-528E-0F12-FEE1-D596706EA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718983"/>
              </p:ext>
            </p:extLst>
          </p:nvPr>
        </p:nvGraphicFramePr>
        <p:xfrm>
          <a:off x="482241" y="216077"/>
          <a:ext cx="11232431" cy="62451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5846">
                  <a:extLst>
                    <a:ext uri="{9D8B030D-6E8A-4147-A177-3AD203B41FA5}">
                      <a16:colId xmlns:a16="http://schemas.microsoft.com/office/drawing/2014/main" val="495199487"/>
                    </a:ext>
                  </a:extLst>
                </a:gridCol>
                <a:gridCol w="1103020">
                  <a:extLst>
                    <a:ext uri="{9D8B030D-6E8A-4147-A177-3AD203B41FA5}">
                      <a16:colId xmlns:a16="http://schemas.microsoft.com/office/drawing/2014/main" val="273983608"/>
                    </a:ext>
                  </a:extLst>
                </a:gridCol>
                <a:gridCol w="1103020">
                  <a:extLst>
                    <a:ext uri="{9D8B030D-6E8A-4147-A177-3AD203B41FA5}">
                      <a16:colId xmlns:a16="http://schemas.microsoft.com/office/drawing/2014/main" val="793364376"/>
                    </a:ext>
                  </a:extLst>
                </a:gridCol>
                <a:gridCol w="1342009">
                  <a:extLst>
                    <a:ext uri="{9D8B030D-6E8A-4147-A177-3AD203B41FA5}">
                      <a16:colId xmlns:a16="http://schemas.microsoft.com/office/drawing/2014/main" val="2596780814"/>
                    </a:ext>
                  </a:extLst>
                </a:gridCol>
                <a:gridCol w="1158173">
                  <a:extLst>
                    <a:ext uri="{9D8B030D-6E8A-4147-A177-3AD203B41FA5}">
                      <a16:colId xmlns:a16="http://schemas.microsoft.com/office/drawing/2014/main" val="2148596349"/>
                    </a:ext>
                  </a:extLst>
                </a:gridCol>
                <a:gridCol w="1507463">
                  <a:extLst>
                    <a:ext uri="{9D8B030D-6E8A-4147-A177-3AD203B41FA5}">
                      <a16:colId xmlns:a16="http://schemas.microsoft.com/office/drawing/2014/main" val="1407739875"/>
                    </a:ext>
                  </a:extLst>
                </a:gridCol>
                <a:gridCol w="1397160">
                  <a:extLst>
                    <a:ext uri="{9D8B030D-6E8A-4147-A177-3AD203B41FA5}">
                      <a16:colId xmlns:a16="http://schemas.microsoft.com/office/drawing/2014/main" val="4044170403"/>
                    </a:ext>
                  </a:extLst>
                </a:gridCol>
                <a:gridCol w="955951">
                  <a:extLst>
                    <a:ext uri="{9D8B030D-6E8A-4147-A177-3AD203B41FA5}">
                      <a16:colId xmlns:a16="http://schemas.microsoft.com/office/drawing/2014/main" val="982804141"/>
                    </a:ext>
                  </a:extLst>
                </a:gridCol>
                <a:gridCol w="1139789">
                  <a:extLst>
                    <a:ext uri="{9D8B030D-6E8A-4147-A177-3AD203B41FA5}">
                      <a16:colId xmlns:a16="http://schemas.microsoft.com/office/drawing/2014/main" val="3395631051"/>
                    </a:ext>
                  </a:extLst>
                </a:gridCol>
              </a:tblGrid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Table univariée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Table bivariée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286239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Variable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N = XXX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 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 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Traitement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 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 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 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2426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u="none" strike="noStrike" dirty="0">
                          <a:effectLst/>
                        </a:rPr>
                        <a:t>IMC (kg/m2)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Variable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Placebo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Traitement A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Traitement B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p-value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Total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89560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n / n </a:t>
                      </a:r>
                      <a:r>
                        <a:rPr lang="fr-FR" sz="1400" u="none" strike="noStrike" dirty="0" err="1">
                          <a:effectLst/>
                        </a:rPr>
                        <a:t>missing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/ 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  N total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N = XXX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N = XXX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N = XXX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 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N = XXX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2137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moyenne (DS)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XX. X (XX.X)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u="none" strike="noStrike" dirty="0">
                          <a:effectLst/>
                        </a:rPr>
                        <a:t>IMC (kg/m2)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 err="1">
                          <a:effectLst/>
                        </a:rPr>
                        <a:t>X.XX</a:t>
                      </a:r>
                      <a:r>
                        <a:rPr lang="fr-FR" sz="1400" u="none" strike="noStrike" baseline="30000" dirty="0" err="1">
                          <a:effectLst/>
                        </a:rPr>
                        <a:t>a</a:t>
                      </a:r>
                      <a:endParaRPr lang="fr-FR" sz="14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31571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u="none" strike="noStrike" dirty="0">
                          <a:effectLst/>
                        </a:rPr>
                        <a:t>PAS (</a:t>
                      </a:r>
                      <a:r>
                        <a:rPr lang="fr-FR" sz="1400" b="1" u="none" strike="noStrike" dirty="0" err="1">
                          <a:effectLst/>
                        </a:rPr>
                        <a:t>mmHg</a:t>
                      </a:r>
                      <a:r>
                        <a:rPr lang="fr-FR" sz="1400" b="1" u="none" strike="noStrike" dirty="0">
                          <a:effectLst/>
                        </a:rPr>
                        <a:t>)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n / n </a:t>
                      </a:r>
                      <a:r>
                        <a:rPr lang="fr-FR" sz="1400" u="none" strike="noStrike" dirty="0" err="1">
                          <a:effectLst/>
                        </a:rPr>
                        <a:t>missing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/ 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/ 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/ 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/ 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812067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n / n </a:t>
                      </a:r>
                      <a:r>
                        <a:rPr lang="fr-FR" sz="1400" u="none" strike="noStrike" dirty="0" err="1">
                          <a:effectLst/>
                        </a:rPr>
                        <a:t>missing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/ 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moyenne (DS)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XX. X (XX.X)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XX. X (XX.X)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XX. X (XX.X)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XX. X (XX.X)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978678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moyenne (DS)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XX. X (XX.X)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u="none" strike="noStrike" dirty="0">
                          <a:effectLst/>
                        </a:rPr>
                        <a:t>PAS (</a:t>
                      </a:r>
                      <a:r>
                        <a:rPr lang="fr-FR" sz="1400" b="1" u="none" strike="noStrike" dirty="0" err="1">
                          <a:effectLst/>
                        </a:rPr>
                        <a:t>mmHg</a:t>
                      </a:r>
                      <a:r>
                        <a:rPr lang="fr-FR" sz="1400" b="1" u="none" strike="noStrike" dirty="0">
                          <a:effectLst/>
                        </a:rPr>
                        <a:t>)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 err="1">
                          <a:effectLst/>
                        </a:rPr>
                        <a:t>X.XX</a:t>
                      </a:r>
                      <a:r>
                        <a:rPr lang="fr-FR" sz="1400" u="none" strike="noStrike" baseline="30000" dirty="0" err="1">
                          <a:effectLst/>
                        </a:rPr>
                        <a:t>b</a:t>
                      </a:r>
                      <a:endParaRPr lang="fr-FR" sz="14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608984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u="none" strike="noStrike" dirty="0">
                          <a:effectLst/>
                        </a:rPr>
                        <a:t>Sexe, n (%)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n / n </a:t>
                      </a:r>
                      <a:r>
                        <a:rPr lang="fr-FR" sz="1400" u="none" strike="noStrike" dirty="0" err="1">
                          <a:effectLst/>
                        </a:rPr>
                        <a:t>missing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XX / XX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XX / XX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/ 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/ 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569126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Féminin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(XX.X%)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moyenne (DS)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XX. X (XX.X)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XX. X (XX.X)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XX. X (XX.X)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XX. X (XX.X)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638363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Masculin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(XX.X%)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u="none" strike="noStrike" dirty="0">
                          <a:effectLst/>
                        </a:rPr>
                        <a:t>Sexe, n (%)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 err="1">
                          <a:effectLst/>
                        </a:rPr>
                        <a:t>X.XX</a:t>
                      </a:r>
                      <a:r>
                        <a:rPr lang="fr-FR" sz="1400" u="none" strike="noStrike" baseline="30000" dirty="0" err="1">
                          <a:effectLst/>
                        </a:rPr>
                        <a:t>c</a:t>
                      </a:r>
                      <a:endParaRPr lang="fr-FR" sz="14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937305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n / n </a:t>
                      </a:r>
                      <a:r>
                        <a:rPr lang="fr-FR" sz="1400" u="none" strike="noStrike" dirty="0" err="1">
                          <a:effectLst/>
                        </a:rPr>
                        <a:t>missing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/ XX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Féminin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(XX.X%)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XX (XX.X%)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(XX.X%)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(XX.X%)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99388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u="none" strike="noStrike" dirty="0">
                          <a:effectLst/>
                        </a:rPr>
                        <a:t>Traitement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Masculin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(XX.X%)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(XX.X%)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XX (XX.X%)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(XX.X%)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968661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Placebo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(XX.X%)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n / n </a:t>
                      </a:r>
                      <a:r>
                        <a:rPr lang="fr-FR" sz="1400" u="none" strike="noStrike" dirty="0" err="1">
                          <a:effectLst/>
                        </a:rPr>
                        <a:t>missing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XX / XX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XX / XX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XX / XX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 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XX / XX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760113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Traitement A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(XX.X%)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baseline="30000" dirty="0">
                          <a:effectLst/>
                        </a:rPr>
                        <a:t>a</a:t>
                      </a:r>
                      <a:r>
                        <a:rPr lang="fr-FR" sz="1400" u="none" strike="noStrike" dirty="0">
                          <a:effectLst/>
                        </a:rPr>
                        <a:t> test statistique A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583313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Traitement B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>
                          <a:effectLst/>
                        </a:rPr>
                        <a:t>XX (XX.X%)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baseline="30000" dirty="0">
                          <a:effectLst/>
                        </a:rPr>
                        <a:t>b</a:t>
                      </a:r>
                      <a:r>
                        <a:rPr lang="fr-FR" sz="1400" u="none" strike="noStrike" dirty="0">
                          <a:effectLst/>
                        </a:rPr>
                        <a:t> test statistique B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982318"/>
                  </a:ext>
                </a:extLst>
              </a:tr>
              <a:tr h="36735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  n / n </a:t>
                      </a:r>
                      <a:r>
                        <a:rPr lang="fr-FR" sz="1400" u="none" strike="noStrike" dirty="0" err="1">
                          <a:effectLst/>
                        </a:rPr>
                        <a:t>missing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u="none" strike="noStrike" dirty="0">
                          <a:effectLst/>
                        </a:rPr>
                        <a:t>XX / XX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 baseline="30000" dirty="0">
                          <a:effectLst/>
                        </a:rPr>
                        <a:t>c</a:t>
                      </a:r>
                      <a:r>
                        <a:rPr lang="fr-FR" sz="1400" u="none" strike="noStrike" dirty="0">
                          <a:effectLst/>
                        </a:rPr>
                        <a:t> test statistique C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7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6166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366</Words>
  <Application>Microsoft Office PowerPoint</Application>
  <PresentationFormat>Grand écran</PresentationFormat>
  <Paragraphs>93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Thème Office</vt:lpstr>
      <vt:lpstr>Présentation PowerPoint</vt:lpstr>
    </vt:vector>
  </TitlesOfParts>
  <Company>INSERM-CERPOP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Benoit</dc:creator>
  <cp:lastModifiedBy>Benoit</cp:lastModifiedBy>
  <cp:revision>2</cp:revision>
  <dcterms:created xsi:type="dcterms:W3CDTF">2026-07-16T18:37:45Z</dcterms:created>
  <dcterms:modified xsi:type="dcterms:W3CDTF">2026-07-16T18:39:56Z</dcterms:modified>
</cp:coreProperties>
</file>